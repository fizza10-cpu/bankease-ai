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1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2108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8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00223E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00223E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" y="2103120"/>
            <a:ext cx="1554480" cy="1554480"/>
          </a:xfrm>
          <a:prstGeom prst="ellipse">
            <a:avLst/>
          </a:prstGeom>
          <a:solidFill>
            <a:srgbClr val="ED1C24"/>
          </a:solidFill>
          <a:ln/>
        </p:spPr>
      </p:sp>
      <p:pic>
        <p:nvPicPr>
          <p:cNvPr id="5" name="Image 0" descr="icons/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2758" y="2452878"/>
            <a:ext cx="854964" cy="854964"/>
          </a:xfrm>
          <a:prstGeom prst="rect">
            <a:avLst/>
          </a:prstGeom>
        </p:spPr>
      </p:pic>
      <p:pic>
        <p:nvPicPr>
          <p:cNvPr id="6" name="Image 1" descr="icons/us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3977640"/>
            <a:ext cx="502920" cy="502920"/>
          </a:xfrm>
          <a:prstGeom prst="rect">
            <a:avLst/>
          </a:prstGeom>
        </p:spPr>
      </p:pic>
      <p:pic>
        <p:nvPicPr>
          <p:cNvPr id="7" name="Image 2" descr="icons/ch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400" y="3977640"/>
            <a:ext cx="502920" cy="5029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749040" y="196596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BankEase AI</a:t>
            </a:r>
            <a:endParaRPr lang="en-US" sz="5400" dirty="0"/>
          </a:p>
        </p:txBody>
      </p:sp>
      <p:sp>
        <p:nvSpPr>
          <p:cNvPr id="9" name="Text 4"/>
          <p:cNvSpPr/>
          <p:nvPr/>
        </p:nvSpPr>
        <p:spPr>
          <a:xfrm>
            <a:off x="3749040" y="28803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Banking Customer Support Chatbot</a:t>
            </a:r>
            <a:endParaRPr lang="en-US" sz="2000" dirty="0"/>
          </a:p>
        </p:txBody>
      </p:sp>
      <p:sp>
        <p:nvSpPr>
          <p:cNvPr id="10" name="Shape 5"/>
          <p:cNvSpPr/>
          <p:nvPr/>
        </p:nvSpPr>
        <p:spPr>
          <a:xfrm>
            <a:off x="3794760" y="3520440"/>
            <a:ext cx="3108960" cy="0"/>
          </a:xfrm>
          <a:prstGeom prst="line">
            <a:avLst/>
          </a:prstGeom>
          <a:noFill/>
          <a:ln w="25400">
            <a:solidFill>
              <a:srgbClr val="ED1C24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3749040" y="37033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watsonx Assistant   •   IBM Cloud   •   Team Project
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3749040" y="4206240"/>
            <a:ext cx="7863840" cy="1417320"/>
          </a:xfrm>
          <a:prstGeom prst="roundRect">
            <a:avLst>
              <a:gd name="adj" fmla="val 5161"/>
            </a:avLst>
          </a:prstGeom>
          <a:solidFill>
            <a:srgbClr val="00223E"/>
          </a:solidFill>
          <a:ln/>
        </p:spPr>
      </p:sp>
      <p:sp>
        <p:nvSpPr>
          <p:cNvPr id="13" name="Text 8"/>
          <p:cNvSpPr/>
          <p:nvPr/>
        </p:nvSpPr>
        <p:spPr>
          <a:xfrm>
            <a:off x="3977640" y="43708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Soumya Gupta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7818120" y="43708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Sharav Mittal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3977640" y="4937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Kanizofiza Saiyyad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7818120" y="4937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Anjali Kumari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749040" y="5806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MKTM535 — Functional Analytics   |   Lovely Professional University, Mittal School of Business   |   05 September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 &amp; Motivation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13232" y="1499616"/>
            <a:ext cx="365760" cy="365760"/>
          </a:xfrm>
          <a:prstGeom prst="ellipse">
            <a:avLst/>
          </a:prstGeom>
          <a:solidFill>
            <a:srgbClr val="003874"/>
          </a:solidFill>
          <a:ln/>
        </p:spPr>
      </p:sp>
      <p:pic>
        <p:nvPicPr>
          <p:cNvPr id="5" name="Image 0" descr="icons/fl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591056"/>
            <a:ext cx="182880" cy="182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50876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volume of repetitive customer enquiries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13232" y="2066544"/>
            <a:ext cx="365760" cy="365760"/>
          </a:xfrm>
          <a:prstGeom prst="ellipse">
            <a:avLst/>
          </a:prstGeom>
          <a:solidFill>
            <a:srgbClr val="003874"/>
          </a:solidFill>
          <a:ln/>
        </p:spPr>
      </p:sp>
      <p:pic>
        <p:nvPicPr>
          <p:cNvPr id="8" name="Image 1" descr="icons/fl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157984"/>
            <a:ext cx="182880" cy="182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2075688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response times during peak periods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713232" y="2633472"/>
            <a:ext cx="365760" cy="365760"/>
          </a:xfrm>
          <a:prstGeom prst="ellipse">
            <a:avLst/>
          </a:prstGeom>
          <a:solidFill>
            <a:srgbClr val="003874"/>
          </a:solidFill>
          <a:ln/>
        </p:spPr>
      </p:sp>
      <p:pic>
        <p:nvPicPr>
          <p:cNvPr id="11" name="Image 2" descr="icons/fl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724912"/>
            <a:ext cx="182880" cy="182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2642616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handling increases customer-service workload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713232" y="3200400"/>
            <a:ext cx="365760" cy="365760"/>
          </a:xfrm>
          <a:prstGeom prst="ellipse">
            <a:avLst/>
          </a:prstGeom>
          <a:solidFill>
            <a:srgbClr val="003874"/>
          </a:solidFill>
          <a:ln/>
        </p:spPr>
      </p:sp>
      <p:pic>
        <p:nvPicPr>
          <p:cNvPr id="14" name="Image 3" descr="icons/fl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291840"/>
            <a:ext cx="182880" cy="1828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34440" y="3209544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expect immediate, 24/7 responses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713232" y="3767328"/>
            <a:ext cx="365760" cy="365760"/>
          </a:xfrm>
          <a:prstGeom prst="ellipse">
            <a:avLst/>
          </a:prstGeom>
          <a:solidFill>
            <a:srgbClr val="003874"/>
          </a:solidFill>
          <a:ln/>
        </p:spPr>
      </p:sp>
      <p:pic>
        <p:nvPicPr>
          <p:cNvPr id="17" name="Image 4" descr="icons/fl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858768"/>
            <a:ext cx="182880" cy="1828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34440" y="3776472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responses across service agents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612648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(MANUAL) PROCESS</a:t>
            </a: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6126480" y="1783080"/>
            <a:ext cx="5486400" cy="457200"/>
          </a:xfrm>
          <a:prstGeom prst="roundRect">
            <a:avLst>
              <a:gd name="adj" fmla="val 18000"/>
            </a:avLst>
          </a:prstGeom>
          <a:solidFill>
            <a:srgbClr val="F4F6FB"/>
          </a:solidFill>
          <a:ln w="15875">
            <a:solidFill>
              <a:srgbClr val="CFE0EE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6199632" y="1783080"/>
            <a:ext cx="5340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50" dirty="0"/>
          </a:p>
        </p:txBody>
      </p:sp>
      <p:pic>
        <p:nvPicPr>
          <p:cNvPr id="22" name="Image 5" descr="icons/arrow_d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9096" y="2240280"/>
            <a:ext cx="201168" cy="18288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126480" y="2423160"/>
            <a:ext cx="5486400" cy="457200"/>
          </a:xfrm>
          <a:prstGeom prst="roundRect">
            <a:avLst>
              <a:gd name="adj" fmla="val 18000"/>
            </a:avLst>
          </a:prstGeom>
          <a:solidFill>
            <a:srgbClr val="F4F6FB"/>
          </a:solidFill>
          <a:ln w="15875">
            <a:solidFill>
              <a:srgbClr val="CFE0EE"/>
            </a:solidFill>
            <a:prstDash val="solid"/>
          </a:ln>
        </p:spPr>
      </p:sp>
      <p:sp>
        <p:nvSpPr>
          <p:cNvPr id="24" name="Text 16"/>
          <p:cNvSpPr/>
          <p:nvPr/>
        </p:nvSpPr>
        <p:spPr>
          <a:xfrm>
            <a:off x="6199632" y="2423160"/>
            <a:ext cx="5340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/ Digital Channel</a:t>
            </a:r>
            <a:endParaRPr lang="en-US" sz="1250" dirty="0"/>
          </a:p>
        </p:txBody>
      </p:sp>
      <p:pic>
        <p:nvPicPr>
          <p:cNvPr id="25" name="Image 6" descr="icons/arrow_d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9096" y="2880360"/>
            <a:ext cx="201168" cy="182880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6126480" y="3063240"/>
            <a:ext cx="5486400" cy="457200"/>
          </a:xfrm>
          <a:prstGeom prst="roundRect">
            <a:avLst>
              <a:gd name="adj" fmla="val 18000"/>
            </a:avLst>
          </a:prstGeom>
          <a:solidFill>
            <a:srgbClr val="F4F6FB"/>
          </a:solidFill>
          <a:ln w="15875">
            <a:solidFill>
              <a:srgbClr val="CFE0EE"/>
            </a:solidFill>
            <a:prstDash val="solid"/>
          </a:ln>
        </p:spPr>
      </p:sp>
      <p:sp>
        <p:nvSpPr>
          <p:cNvPr id="27" name="Text 18"/>
          <p:cNvSpPr/>
          <p:nvPr/>
        </p:nvSpPr>
        <p:spPr>
          <a:xfrm>
            <a:off x="6199632" y="3063240"/>
            <a:ext cx="5340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Customer-Service Executive</a:t>
            </a:r>
            <a:endParaRPr lang="en-US" sz="1250" dirty="0"/>
          </a:p>
        </p:txBody>
      </p:sp>
      <p:pic>
        <p:nvPicPr>
          <p:cNvPr id="28" name="Image 7" descr="icons/arrow_d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9096" y="3520440"/>
            <a:ext cx="201168" cy="182880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6126480" y="3703320"/>
            <a:ext cx="5486400" cy="566928"/>
          </a:xfrm>
          <a:prstGeom prst="roundRect">
            <a:avLst>
              <a:gd name="adj" fmla="val 14516"/>
            </a:avLst>
          </a:prstGeom>
          <a:solidFill>
            <a:srgbClr val="FCE3E3"/>
          </a:solidFill>
          <a:ln w="15875">
            <a:solidFill>
              <a:srgbClr val="ED1C24"/>
            </a:solidFill>
            <a:prstDash val="solid"/>
          </a:ln>
        </p:spPr>
      </p:sp>
      <p:sp>
        <p:nvSpPr>
          <p:cNvPr id="30" name="Text 20"/>
          <p:cNvSpPr/>
          <p:nvPr/>
        </p:nvSpPr>
        <p:spPr>
          <a:xfrm>
            <a:off x="6199632" y="3703320"/>
            <a:ext cx="5340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Response Time · Repetitive Work · Inconsistent Replies</a:t>
            </a:r>
            <a:endParaRPr lang="en-US" sz="1150" dirty="0"/>
          </a:p>
        </p:txBody>
      </p:sp>
      <p:sp>
        <p:nvSpPr>
          <p:cNvPr id="31" name="Shape 21"/>
          <p:cNvSpPr/>
          <p:nvPr/>
        </p:nvSpPr>
        <p:spPr>
          <a:xfrm>
            <a:off x="548640" y="51663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003874"/>
          </a:solidFill>
          <a:ln/>
        </p:spPr>
      </p:sp>
      <p:pic>
        <p:nvPicPr>
          <p:cNvPr id="32" name="Image 8" descr="icons/lightbulb_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468112"/>
            <a:ext cx="457200" cy="45720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1417320" y="5166360"/>
            <a:ext cx="9966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conversational assistant can automate routine enquiries and provide fast, consistent first-line support.</a:t>
            </a:r>
            <a:endParaRPr lang="en-US" sz="1500" dirty="0"/>
          </a:p>
        </p:txBody>
      </p:sp>
      <p:sp>
        <p:nvSpPr>
          <p:cNvPr id="34" name="Text 23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BankEase AI — AI-Powered Banking Customer Support Chatbot</a:t>
            </a:r>
            <a:endParaRPr lang="en-US" sz="900" dirty="0"/>
          </a:p>
        </p:txBody>
      </p:sp>
      <p:sp>
        <p:nvSpPr>
          <p:cNvPr id="35" name="Text 24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Aim and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Aim:  </a:t>
            </a: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design and implement an AI-powered banking customer-support chatbot using IBM watsonx Assistant that understands customer requests and responds through conversational dialogue.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36118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FE0EE"/>
            </a:solidFill>
            <a:prstDash val="solid"/>
          </a:ln>
          <a:effectLst>
            <a:outerShdw blurRad="76200" dist="25400" dir="5400000" algn="bl" rotWithShape="0">
              <a:srgbClr val="9BA6C4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2679192"/>
            <a:ext cx="384048" cy="384048"/>
          </a:xfrm>
          <a:prstGeom prst="ellipse">
            <a:avLst/>
          </a:prstGeom>
          <a:solidFill>
            <a:srgbClr val="003874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2624328"/>
            <a:ext cx="283464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common banking customer-service enquiries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51960" y="2514600"/>
            <a:ext cx="36118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FE0EE"/>
            </a:solidFill>
            <a:prstDash val="solid"/>
          </a:ln>
          <a:effectLst>
            <a:outerShdw blurRad="76200" dist="25400" dir="5400000" algn="bl" rotWithShape="0">
              <a:srgbClr val="9BA6C4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16552" y="2679192"/>
            <a:ext cx="384048" cy="384048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12" name="Text 10"/>
          <p:cNvSpPr/>
          <p:nvPr/>
        </p:nvSpPr>
        <p:spPr>
          <a:xfrm>
            <a:off x="4416552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92040" y="2624328"/>
            <a:ext cx="283464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train banking-related intents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55280" y="2514600"/>
            <a:ext cx="36118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FE0EE"/>
            </a:solidFill>
            <a:prstDash val="solid"/>
          </a:ln>
          <a:effectLst>
            <a:outerShdw blurRad="76200" dist="25400" dir="5400000" algn="bl" rotWithShape="0">
              <a:srgbClr val="9BA6C4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19872" y="2679192"/>
            <a:ext cx="384048" cy="384048"/>
          </a:xfrm>
          <a:prstGeom prst="ellipse">
            <a:avLst/>
          </a:prstGeom>
          <a:solidFill>
            <a:srgbClr val="003874"/>
          </a:solidFill>
          <a:ln/>
        </p:spPr>
      </p:sp>
      <p:sp>
        <p:nvSpPr>
          <p:cNvPr id="16" name="Text 14"/>
          <p:cNvSpPr/>
          <p:nvPr/>
        </p:nvSpPr>
        <p:spPr>
          <a:xfrm>
            <a:off x="8119872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595360" y="2624328"/>
            <a:ext cx="283464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entities to extract information from messages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749040"/>
            <a:ext cx="36118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FE0EE"/>
            </a:solidFill>
            <a:prstDash val="solid"/>
          </a:ln>
          <a:effectLst>
            <a:outerShdw blurRad="76200" dist="25400" dir="5400000" algn="bl" rotWithShape="0">
              <a:srgbClr val="9BA6C4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3232" y="3913632"/>
            <a:ext cx="384048" cy="384048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" y="3913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88720" y="3858768"/>
            <a:ext cx="283464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structured Dialog conversation flow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251960" y="3749040"/>
            <a:ext cx="36118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FE0EE"/>
            </a:solidFill>
            <a:prstDash val="solid"/>
          </a:ln>
          <a:effectLst>
            <a:outerShdw blurRad="76200" dist="25400" dir="5400000" algn="bl" rotWithShape="0">
              <a:srgbClr val="9BA6C4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416552" y="3913632"/>
            <a:ext cx="384048" cy="384048"/>
          </a:xfrm>
          <a:prstGeom prst="ellipse">
            <a:avLst/>
          </a:prstGeom>
          <a:solidFill>
            <a:srgbClr val="003874"/>
          </a:solidFill>
          <a:ln/>
        </p:spPr>
      </p:sp>
      <p:sp>
        <p:nvSpPr>
          <p:cNvPr id="24" name="Text 22"/>
          <p:cNvSpPr/>
          <p:nvPr/>
        </p:nvSpPr>
        <p:spPr>
          <a:xfrm>
            <a:off x="4416552" y="3913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892040" y="3858768"/>
            <a:ext cx="283464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child nodes for multi-step conversations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955280" y="3749040"/>
            <a:ext cx="36118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FE0EE"/>
            </a:solidFill>
            <a:prstDash val="solid"/>
          </a:ln>
          <a:effectLst>
            <a:outerShdw blurRad="76200" dist="25400" dir="5400000" algn="bl" rotWithShape="0">
              <a:srgbClr val="9BA6C4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119872" y="3913632"/>
            <a:ext cx="384048" cy="384048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28" name="Text 26"/>
          <p:cNvSpPr/>
          <p:nvPr/>
        </p:nvSpPr>
        <p:spPr>
          <a:xfrm>
            <a:off x="8119872" y="3913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595360" y="3858768"/>
            <a:ext cx="283464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options and follow-up questions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4983480"/>
            <a:ext cx="36118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FE0EE"/>
            </a:solidFill>
            <a:prstDash val="solid"/>
          </a:ln>
          <a:effectLst>
            <a:outerShdw blurRad="76200" dist="25400" dir="5400000" algn="bl" rotWithShape="0">
              <a:srgbClr val="9BA6C4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13232" y="5148072"/>
            <a:ext cx="384048" cy="384048"/>
          </a:xfrm>
          <a:prstGeom prst="ellipse">
            <a:avLst/>
          </a:prstGeom>
          <a:solidFill>
            <a:srgbClr val="003874"/>
          </a:solidFill>
          <a:ln/>
        </p:spPr>
      </p:sp>
      <p:sp>
        <p:nvSpPr>
          <p:cNvPr id="32" name="Text 30"/>
          <p:cNvSpPr/>
          <p:nvPr/>
        </p:nvSpPr>
        <p:spPr>
          <a:xfrm>
            <a:off x="713232" y="5148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188720" y="5093208"/>
            <a:ext cx="283464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chatbot across customer scenarios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251960" y="4983480"/>
            <a:ext cx="36118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FE0EE"/>
            </a:solidFill>
            <a:prstDash val="solid"/>
          </a:ln>
          <a:effectLst>
            <a:outerShdw blurRad="76200" dist="25400" dir="5400000" algn="bl" rotWithShape="0">
              <a:srgbClr val="9BA6C4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416552" y="5148072"/>
            <a:ext cx="384048" cy="384048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36" name="Text 34"/>
          <p:cNvSpPr/>
          <p:nvPr/>
        </p:nvSpPr>
        <p:spPr>
          <a:xfrm>
            <a:off x="4416552" y="5148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4892040" y="5093208"/>
            <a:ext cx="283464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expected vs. actual responses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955280" y="4983480"/>
            <a:ext cx="36118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FE0EE"/>
            </a:solidFill>
            <a:prstDash val="solid"/>
          </a:ln>
          <a:effectLst>
            <a:outerShdw blurRad="76200" dist="25400" dir="5400000" algn="bl" rotWithShape="0">
              <a:srgbClr val="9BA6C4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119872" y="5148072"/>
            <a:ext cx="384048" cy="384048"/>
          </a:xfrm>
          <a:prstGeom prst="ellipse">
            <a:avLst/>
          </a:prstGeom>
          <a:solidFill>
            <a:srgbClr val="003874"/>
          </a:solidFill>
          <a:ln/>
        </p:spPr>
      </p:sp>
      <p:sp>
        <p:nvSpPr>
          <p:cNvPr id="40" name="Text 38"/>
          <p:cNvSpPr/>
          <p:nvPr/>
        </p:nvSpPr>
        <p:spPr>
          <a:xfrm>
            <a:off x="8119872" y="5148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8595360" y="5093208"/>
            <a:ext cx="283464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limitations and recommend improvements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BankEase AI — AI-Powered Banking Customer Support Chatbot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Used — IBM watsonx Assistant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100" dirty="0"/>
          </a:p>
        </p:txBody>
      </p:sp>
      <p:pic>
        <p:nvPicPr>
          <p:cNvPr id="5" name="Image 0" descr="icons/cloud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37360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71907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watsonx Assistant</a:t>
            </a:r>
            <a:endParaRPr lang="en-US" sz="1300" dirty="0"/>
          </a:p>
        </p:txBody>
      </p:sp>
      <p:pic>
        <p:nvPicPr>
          <p:cNvPr id="7" name="Image 1" descr="icons/cloud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03120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208483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Cloud</a:t>
            </a:r>
            <a:endParaRPr lang="en-US" sz="1300" dirty="0"/>
          </a:p>
        </p:txBody>
      </p:sp>
      <p:pic>
        <p:nvPicPr>
          <p:cNvPr id="9" name="Image 2" descr="icons/cloud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68880"/>
            <a:ext cx="256032" cy="2560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14400" y="245059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Dialog-based conversation design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548640" y="3017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COMPONENTS USED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48640" y="3337560"/>
            <a:ext cx="2514600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/>
        </p:spPr>
      </p:sp>
      <p:sp>
        <p:nvSpPr>
          <p:cNvPr id="13" name="Text 8"/>
          <p:cNvSpPr/>
          <p:nvPr/>
        </p:nvSpPr>
        <p:spPr>
          <a:xfrm>
            <a:off x="658368" y="333756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Intents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3200400" y="3337560"/>
            <a:ext cx="2514600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/>
        </p:spPr>
      </p:sp>
      <p:sp>
        <p:nvSpPr>
          <p:cNvPr id="15" name="Text 10"/>
          <p:cNvSpPr/>
          <p:nvPr/>
        </p:nvSpPr>
        <p:spPr>
          <a:xfrm>
            <a:off x="3310128" y="333756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48640" y="3721608"/>
            <a:ext cx="2514600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/>
        </p:spPr>
      </p:sp>
      <p:sp>
        <p:nvSpPr>
          <p:cNvPr id="17" name="Text 12"/>
          <p:cNvSpPr/>
          <p:nvPr/>
        </p:nvSpPr>
        <p:spPr>
          <a:xfrm>
            <a:off x="658368" y="372160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 nodes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3200400" y="3721608"/>
            <a:ext cx="2514600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/>
        </p:spPr>
      </p:sp>
      <p:sp>
        <p:nvSpPr>
          <p:cNvPr id="19" name="Text 14"/>
          <p:cNvSpPr/>
          <p:nvPr/>
        </p:nvSpPr>
        <p:spPr>
          <a:xfrm>
            <a:off x="3310128" y="372160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nodes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4105656"/>
            <a:ext cx="2514600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/>
        </p:spPr>
      </p:sp>
      <p:sp>
        <p:nvSpPr>
          <p:cNvPr id="21" name="Text 16"/>
          <p:cNvSpPr/>
          <p:nvPr/>
        </p:nvSpPr>
        <p:spPr>
          <a:xfrm>
            <a:off x="658368" y="410565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variables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3200400" y="4105656"/>
            <a:ext cx="2514600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/>
        </p:spPr>
      </p:sp>
      <p:sp>
        <p:nvSpPr>
          <p:cNvPr id="23" name="Text 18"/>
          <p:cNvSpPr/>
          <p:nvPr/>
        </p:nvSpPr>
        <p:spPr>
          <a:xfrm>
            <a:off x="3310128" y="410565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entities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548640" y="4489704"/>
            <a:ext cx="2514600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/>
        </p:spPr>
      </p:sp>
      <p:sp>
        <p:nvSpPr>
          <p:cNvPr id="25" name="Text 20"/>
          <p:cNvSpPr/>
          <p:nvPr/>
        </p:nvSpPr>
        <p:spPr>
          <a:xfrm>
            <a:off x="658368" y="448970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types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3200400" y="4489704"/>
            <a:ext cx="2514600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/>
        </p:spPr>
      </p:sp>
      <p:sp>
        <p:nvSpPr>
          <p:cNvPr id="27" name="Text 22"/>
          <p:cNvSpPr/>
          <p:nvPr/>
        </p:nvSpPr>
        <p:spPr>
          <a:xfrm>
            <a:off x="3310128" y="448970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548640" y="4873752"/>
            <a:ext cx="2514600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/>
        </p:spPr>
      </p:sp>
      <p:sp>
        <p:nvSpPr>
          <p:cNvPr id="29" name="Text 24"/>
          <p:cNvSpPr/>
          <p:nvPr/>
        </p:nvSpPr>
        <p:spPr>
          <a:xfrm>
            <a:off x="658368" y="487375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reply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3200400" y="4873752"/>
            <a:ext cx="2514600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/>
        </p:spPr>
      </p:sp>
      <p:sp>
        <p:nvSpPr>
          <p:cNvPr id="31" name="Text 26"/>
          <p:cNvSpPr/>
          <p:nvPr/>
        </p:nvSpPr>
        <p:spPr>
          <a:xfrm>
            <a:off x="3310128" y="487375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“Anything else” fallback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548640" y="5257800"/>
            <a:ext cx="2514600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/>
        </p:spPr>
      </p:sp>
      <p:sp>
        <p:nvSpPr>
          <p:cNvPr id="33" name="Text 28"/>
          <p:cNvSpPr/>
          <p:nvPr/>
        </p:nvSpPr>
        <p:spPr>
          <a:xfrm>
            <a:off x="658368" y="525780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/ testing interface</a:t>
            </a:r>
            <a:endParaRPr lang="en-US" sz="1050" dirty="0"/>
          </a:p>
        </p:txBody>
      </p:sp>
      <p:sp>
        <p:nvSpPr>
          <p:cNvPr id="34" name="Text 29"/>
          <p:cNvSpPr/>
          <p:nvPr/>
        </p:nvSpPr>
        <p:spPr>
          <a:xfrm>
            <a:off x="6446520" y="141732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PIPELINE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6446520" y="1737360"/>
            <a:ext cx="5166360" cy="402336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15875">
            <a:solidFill>
              <a:srgbClr val="CFE0EE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6519672" y="1737360"/>
            <a:ext cx="5020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Input</a:t>
            </a:r>
            <a:endParaRPr lang="en-US" sz="1200" dirty="0"/>
          </a:p>
        </p:txBody>
      </p:sp>
      <p:pic>
        <p:nvPicPr>
          <p:cNvPr id="37" name="Image 3" descr="icons/arrow_d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9116" y="2139696"/>
            <a:ext cx="201168" cy="128016"/>
          </a:xfrm>
          <a:prstGeom prst="rect">
            <a:avLst/>
          </a:prstGeom>
        </p:spPr>
      </p:pic>
      <p:sp>
        <p:nvSpPr>
          <p:cNvPr id="38" name="Shape 32"/>
          <p:cNvSpPr/>
          <p:nvPr/>
        </p:nvSpPr>
        <p:spPr>
          <a:xfrm>
            <a:off x="6446520" y="2267712"/>
            <a:ext cx="5166360" cy="402336"/>
          </a:xfrm>
          <a:prstGeom prst="roundRect">
            <a:avLst>
              <a:gd name="adj" fmla="val 20455"/>
            </a:avLst>
          </a:prstGeom>
          <a:solidFill>
            <a:srgbClr val="003874"/>
          </a:solidFill>
          <a:ln w="15875">
            <a:solidFill>
              <a:srgbClr val="CFE0EE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6519672" y="2267712"/>
            <a:ext cx="5020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watsonx Assistant</a:t>
            </a:r>
            <a:endParaRPr lang="en-US" sz="1200" dirty="0"/>
          </a:p>
        </p:txBody>
      </p:sp>
      <p:pic>
        <p:nvPicPr>
          <p:cNvPr id="40" name="Image 4" descr="icons/arrow_d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9116" y="2670048"/>
            <a:ext cx="201168" cy="128016"/>
          </a:xfrm>
          <a:prstGeom prst="rect">
            <a:avLst/>
          </a:prstGeom>
        </p:spPr>
      </p:pic>
      <p:sp>
        <p:nvSpPr>
          <p:cNvPr id="41" name="Shape 34"/>
          <p:cNvSpPr/>
          <p:nvPr/>
        </p:nvSpPr>
        <p:spPr>
          <a:xfrm>
            <a:off x="6446520" y="2798064"/>
            <a:ext cx="5166360" cy="402336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15875">
            <a:solidFill>
              <a:srgbClr val="CFE0EE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6519672" y="2798064"/>
            <a:ext cx="5020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Recognition</a:t>
            </a:r>
            <a:endParaRPr lang="en-US" sz="1200" dirty="0"/>
          </a:p>
        </p:txBody>
      </p:sp>
      <p:pic>
        <p:nvPicPr>
          <p:cNvPr id="43" name="Image 5" descr="icons/arrow_d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9116" y="3200400"/>
            <a:ext cx="201168" cy="128016"/>
          </a:xfrm>
          <a:prstGeom prst="rect">
            <a:avLst/>
          </a:prstGeom>
        </p:spPr>
      </p:pic>
      <p:sp>
        <p:nvSpPr>
          <p:cNvPr id="44" name="Shape 36"/>
          <p:cNvSpPr/>
          <p:nvPr/>
        </p:nvSpPr>
        <p:spPr>
          <a:xfrm>
            <a:off x="6446520" y="3328416"/>
            <a:ext cx="5166360" cy="402336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15875">
            <a:solidFill>
              <a:srgbClr val="CFE0EE"/>
            </a:solidFill>
            <a:prstDash val="solid"/>
          </a:ln>
        </p:spPr>
      </p:sp>
      <p:sp>
        <p:nvSpPr>
          <p:cNvPr id="45" name="Text 37"/>
          <p:cNvSpPr/>
          <p:nvPr/>
        </p:nvSpPr>
        <p:spPr>
          <a:xfrm>
            <a:off x="6519672" y="3328416"/>
            <a:ext cx="5020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Extraction</a:t>
            </a:r>
            <a:endParaRPr lang="en-US" sz="1200" dirty="0"/>
          </a:p>
        </p:txBody>
      </p:sp>
      <p:pic>
        <p:nvPicPr>
          <p:cNvPr id="46" name="Image 6" descr="icons/arrow_d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9116" y="3730752"/>
            <a:ext cx="201168" cy="128016"/>
          </a:xfrm>
          <a:prstGeom prst="rect">
            <a:avLst/>
          </a:prstGeom>
        </p:spPr>
      </p:pic>
      <p:sp>
        <p:nvSpPr>
          <p:cNvPr id="47" name="Shape 38"/>
          <p:cNvSpPr/>
          <p:nvPr/>
        </p:nvSpPr>
        <p:spPr>
          <a:xfrm>
            <a:off x="6446520" y="3858768"/>
            <a:ext cx="5166360" cy="402336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15875">
            <a:solidFill>
              <a:srgbClr val="CFE0EE"/>
            </a:solidFill>
            <a:prstDash val="solid"/>
          </a:ln>
        </p:spPr>
      </p:sp>
      <p:sp>
        <p:nvSpPr>
          <p:cNvPr id="48" name="Text 39"/>
          <p:cNvSpPr/>
          <p:nvPr/>
        </p:nvSpPr>
        <p:spPr>
          <a:xfrm>
            <a:off x="6519672" y="3858768"/>
            <a:ext cx="5020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 Node</a:t>
            </a:r>
            <a:endParaRPr lang="en-US" sz="1200" dirty="0"/>
          </a:p>
        </p:txBody>
      </p:sp>
      <p:pic>
        <p:nvPicPr>
          <p:cNvPr id="49" name="Image 7" descr="icons/arrow_d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9116" y="4261104"/>
            <a:ext cx="201168" cy="128016"/>
          </a:xfrm>
          <a:prstGeom prst="rect">
            <a:avLst/>
          </a:prstGeom>
        </p:spPr>
      </p:pic>
      <p:sp>
        <p:nvSpPr>
          <p:cNvPr id="50" name="Shape 40"/>
          <p:cNvSpPr/>
          <p:nvPr/>
        </p:nvSpPr>
        <p:spPr>
          <a:xfrm>
            <a:off x="6446520" y="4389120"/>
            <a:ext cx="5166360" cy="402336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15875">
            <a:solidFill>
              <a:srgbClr val="CFE0EE"/>
            </a:solidFill>
            <a:prstDash val="solid"/>
          </a:ln>
        </p:spPr>
      </p:sp>
      <p:sp>
        <p:nvSpPr>
          <p:cNvPr id="51" name="Text 41"/>
          <p:cNvSpPr/>
          <p:nvPr/>
        </p:nvSpPr>
        <p:spPr>
          <a:xfrm>
            <a:off x="6519672" y="4389120"/>
            <a:ext cx="5020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Node / Follow-up</a:t>
            </a:r>
            <a:endParaRPr lang="en-US" sz="1200" dirty="0"/>
          </a:p>
        </p:txBody>
      </p:sp>
      <p:pic>
        <p:nvPicPr>
          <p:cNvPr id="52" name="Image 8" descr="icons/arrow_d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9116" y="4791456"/>
            <a:ext cx="201168" cy="128016"/>
          </a:xfrm>
          <a:prstGeom prst="rect">
            <a:avLst/>
          </a:prstGeom>
        </p:spPr>
      </p:pic>
      <p:sp>
        <p:nvSpPr>
          <p:cNvPr id="53" name="Shape 42"/>
          <p:cNvSpPr/>
          <p:nvPr/>
        </p:nvSpPr>
        <p:spPr>
          <a:xfrm>
            <a:off x="6446520" y="4919472"/>
            <a:ext cx="5166360" cy="402336"/>
          </a:xfrm>
          <a:prstGeom prst="roundRect">
            <a:avLst>
              <a:gd name="adj" fmla="val 20455"/>
            </a:avLst>
          </a:prstGeom>
          <a:solidFill>
            <a:srgbClr val="ED1C24"/>
          </a:solidFill>
          <a:ln w="15875">
            <a:solidFill>
              <a:srgbClr val="CFE0EE"/>
            </a:solidFill>
            <a:prstDash val="solid"/>
          </a:ln>
        </p:spPr>
      </p:sp>
      <p:sp>
        <p:nvSpPr>
          <p:cNvPr id="54" name="Text 43"/>
          <p:cNvSpPr/>
          <p:nvPr/>
        </p:nvSpPr>
        <p:spPr>
          <a:xfrm>
            <a:off x="6519672" y="4919472"/>
            <a:ext cx="5020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→ Customer</a:t>
            </a:r>
            <a:endParaRPr lang="en-US" sz="1200" dirty="0"/>
          </a:p>
        </p:txBody>
      </p:sp>
      <p:sp>
        <p:nvSpPr>
          <p:cNvPr id="55" name="Text 44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BankEase AI — AI-Powered Banking Customer Support Chatbot</a:t>
            </a:r>
            <a:endParaRPr lang="en-US" sz="900" dirty="0"/>
          </a:p>
        </p:txBody>
      </p:sp>
      <p:sp>
        <p:nvSpPr>
          <p:cNvPr id="56" name="Text 45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Intents &amp; Entities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building the conversation flow, the team defined two core building blocks that IBM watsonx Assistant uses to understand every customer message: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003874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965960"/>
            <a:ext cx="640080" cy="640080"/>
          </a:xfrm>
          <a:prstGeom prst="ellipse">
            <a:avLst/>
          </a:prstGeom>
          <a:solidFill>
            <a:srgbClr val="ED1C24"/>
          </a:solidFill>
          <a:ln/>
        </p:spPr>
      </p:sp>
      <p:pic>
        <p:nvPicPr>
          <p:cNvPr id="7" name="Image 0" descr="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538" y="2109978"/>
            <a:ext cx="352044" cy="3520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03911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INTENT?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265176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or purpose behind a customer's message — what the customer wants to accomplish.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3200400"/>
            <a:ext cx="4892040" cy="384048"/>
          </a:xfrm>
          <a:prstGeom prst="roundRect">
            <a:avLst>
              <a:gd name="adj" fmla="val 14286"/>
            </a:avLst>
          </a:prstGeom>
          <a:solidFill>
            <a:srgbClr val="00223E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320040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</a:t>
            </a: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#Banking_Transfer_Money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63640" y="178308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CE3E3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46520" y="1965960"/>
            <a:ext cx="640080" cy="640080"/>
          </a:xfrm>
          <a:prstGeom prst="ellipse">
            <a:avLst/>
          </a:prstGeom>
          <a:solidFill>
            <a:srgbClr val="003874"/>
          </a:solidFill>
          <a:ln/>
        </p:spPr>
      </p:sp>
      <p:pic>
        <p:nvPicPr>
          <p:cNvPr id="14" name="Image 1" descr="icons/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0538" y="2109978"/>
            <a:ext cx="352044" cy="3520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78040" y="203911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ENTITY?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492240" y="265176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 piece of information within the message — the details needed to act on the intent.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492240" y="3200400"/>
            <a:ext cx="4892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18" name="Text 14"/>
          <p:cNvSpPr/>
          <p:nvPr/>
        </p:nvSpPr>
        <p:spPr>
          <a:xfrm>
            <a:off x="6629400" y="320040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</a:t>
            </a:r>
            <a:r>
              <a:rPr lang="en-US" sz="1050" b="1" dirty="0">
                <a:solidFill>
                  <a:srgbClr val="0038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@transfer_type = International Transfer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548640" y="3931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analogy:  </a:t>
            </a: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is the </a:t>
            </a:r>
            <a:r>
              <a:rPr lang="en-US" sz="1300" b="1" i="1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</a:t>
            </a: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(what to do); Entity is the </a:t>
            </a:r>
            <a:r>
              <a:rPr lang="en-US" sz="1300" b="1" i="1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 / detail</a:t>
            </a: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(what it's about).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548640" y="443484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4F6FB"/>
          </a:solidFill>
          <a:ln w="12700">
            <a:solidFill>
              <a:srgbClr val="CFE0EE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22960" y="45628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822960" y="487375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want to make an </a:t>
            </a:r>
            <a:r>
              <a:rPr lang="en-US" sz="1300" b="1" u="sng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transfer</a:t>
            </a: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</a:t>
            </a:r>
            <a:r>
              <a:rPr lang="en-US" sz="1300" b="1" u="sng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5000</a:t>
            </a: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." — the customer wants to </a:t>
            </a:r>
            <a:r>
              <a:rPr lang="en-US" sz="1300" b="1" dirty="0">
                <a:solidFill>
                  <a:srgbClr val="003874"/>
                </a:solidFill>
                <a:highlight>
                  <a:srgbClr val="CFE0EE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transfer money</a:t>
            </a: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(Intent), and specifies the </a:t>
            </a:r>
            <a:r>
              <a:rPr lang="en-US" sz="1300" b="1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type and amount</a:t>
            </a: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(Entities).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BankEase AI — AI-Powered Banking Customer Support Chatbot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BankEase AI Conversation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081174" cy="566928"/>
          </a:xfrm>
          <a:prstGeom prst="roundRect">
            <a:avLst>
              <a:gd name="adj" fmla="val 14516"/>
            </a:avLst>
          </a:prstGeom>
          <a:solidFill>
            <a:srgbClr val="003874"/>
          </a:solidFill>
          <a:ln w="15875">
            <a:solidFill>
              <a:srgbClr val="CFE0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417320"/>
            <a:ext cx="19348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602382" y="1417320"/>
            <a:ext cx="219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3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94406" y="1417320"/>
            <a:ext cx="2081174" cy="566928"/>
          </a:xfrm>
          <a:prstGeom prst="roundRect">
            <a:avLst>
              <a:gd name="adj" fmla="val 14516"/>
            </a:avLst>
          </a:prstGeom>
          <a:solidFill>
            <a:srgbClr val="F4F6FB"/>
          </a:solidFill>
          <a:ln w="15875">
            <a:solidFill>
              <a:srgbClr val="CFE0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67558" y="1417320"/>
            <a:ext cx="19348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8149" y="1417320"/>
            <a:ext cx="219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3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40173" y="1417320"/>
            <a:ext cx="2081174" cy="566928"/>
          </a:xfrm>
          <a:prstGeom prst="roundRect">
            <a:avLst>
              <a:gd name="adj" fmla="val 14516"/>
            </a:avLst>
          </a:prstGeom>
          <a:solidFill>
            <a:srgbClr val="F4F6FB"/>
          </a:solidFill>
          <a:ln w="15875">
            <a:solidFill>
              <a:srgbClr val="CFE0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13325" y="1417320"/>
            <a:ext cx="19348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093915" y="1417320"/>
            <a:ext cx="219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3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285939" y="1417320"/>
            <a:ext cx="2081174" cy="566928"/>
          </a:xfrm>
          <a:prstGeom prst="roundRect">
            <a:avLst>
              <a:gd name="adj" fmla="val 14516"/>
            </a:avLst>
          </a:prstGeom>
          <a:solidFill>
            <a:srgbClr val="F4F6FB"/>
          </a:solidFill>
          <a:ln w="15875">
            <a:solidFill>
              <a:srgbClr val="CFE0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59091" y="1417320"/>
            <a:ext cx="19348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39682" y="1417320"/>
            <a:ext cx="219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3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531706" y="1417320"/>
            <a:ext cx="2081174" cy="566928"/>
          </a:xfrm>
          <a:prstGeom prst="roundRect">
            <a:avLst>
              <a:gd name="adj" fmla="val 14516"/>
            </a:avLst>
          </a:prstGeom>
          <a:solidFill>
            <a:srgbClr val="F4F6FB"/>
          </a:solidFill>
          <a:ln w="15875">
            <a:solidFill>
              <a:srgbClr val="CFE0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4858" y="1417320"/>
            <a:ext cx="19348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Dialog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1100" dirty="0"/>
          </a:p>
        </p:txBody>
      </p:sp>
      <p:pic>
        <p:nvPicPr>
          <p:cNvPr id="18" name="Image 0" descr="icons/arrow_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76" y="2020824"/>
            <a:ext cx="201168" cy="219456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4069080" y="2276856"/>
            <a:ext cx="4023360" cy="457200"/>
          </a:xfrm>
          <a:prstGeom prst="roundRect">
            <a:avLst>
              <a:gd name="adj" fmla="val 18000"/>
            </a:avLst>
          </a:prstGeom>
          <a:solidFill>
            <a:srgbClr val="FCE3E3"/>
          </a:solidFill>
          <a:ln w="15875">
            <a:solidFill>
              <a:srgbClr val="ED1C2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142232" y="2276856"/>
            <a:ext cx="3877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additional information?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206240" y="2779776"/>
            <a:ext cx="0" cy="0"/>
          </a:xfrm>
          <a:prstGeom prst="line">
            <a:avLst/>
          </a:prstGeom>
          <a:noFill/>
          <a:ln w="19050">
            <a:solidFill>
              <a:srgbClr val="00387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092440" y="2779776"/>
            <a:ext cx="0" cy="0"/>
          </a:xfrm>
          <a:prstGeom prst="line">
            <a:avLst/>
          </a:prstGeom>
          <a:noFill/>
          <a:ln w="19050">
            <a:solidFill>
              <a:srgbClr val="00387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206240" y="2779776"/>
            <a:ext cx="0" cy="338328"/>
          </a:xfrm>
          <a:prstGeom prst="line">
            <a:avLst/>
          </a:prstGeom>
          <a:noFill/>
          <a:ln w="19050">
            <a:solidFill>
              <a:srgbClr val="00387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955280" y="2779776"/>
            <a:ext cx="0" cy="338328"/>
          </a:xfrm>
          <a:prstGeom prst="line">
            <a:avLst/>
          </a:prstGeom>
          <a:noFill/>
          <a:ln w="19050">
            <a:solidFill>
              <a:srgbClr val="00387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703320" y="28072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001000" y="28072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1005840" y="3118104"/>
            <a:ext cx="3200400" cy="384048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5875">
            <a:solidFill>
              <a:srgbClr val="ED1C2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78992" y="3118104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Node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7955280" y="3118104"/>
            <a:ext cx="3200400" cy="384048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5875">
            <a:solidFill>
              <a:srgbClr val="00387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028432" y="3118104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Response</a:t>
            </a:r>
            <a:endParaRPr lang="en-US" sz="1200" dirty="0"/>
          </a:p>
        </p:txBody>
      </p:sp>
      <p:pic>
        <p:nvPicPr>
          <p:cNvPr id="31" name="Image 1" descr="icons/arrow_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5456" y="3538728"/>
            <a:ext cx="201168" cy="201168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548640" y="3794760"/>
            <a:ext cx="1725930" cy="502920"/>
          </a:xfrm>
          <a:prstGeom prst="roundRect">
            <a:avLst>
              <a:gd name="adj" fmla="val 16364"/>
            </a:avLst>
          </a:prstGeom>
          <a:solidFill>
            <a:srgbClr val="F4F6FB"/>
          </a:solidFill>
          <a:ln w="15875">
            <a:solidFill>
              <a:srgbClr val="CFE0EE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21792" y="3794760"/>
            <a:ext cx="15796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050" dirty="0"/>
          </a:p>
        </p:txBody>
      </p:sp>
      <p:sp>
        <p:nvSpPr>
          <p:cNvPr id="34" name="Text 30"/>
          <p:cNvSpPr/>
          <p:nvPr/>
        </p:nvSpPr>
        <p:spPr>
          <a:xfrm>
            <a:off x="2251710" y="3794760"/>
            <a:ext cx="182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35" name="Shape 31"/>
          <p:cNvSpPr/>
          <p:nvPr/>
        </p:nvSpPr>
        <p:spPr>
          <a:xfrm>
            <a:off x="2411730" y="3794760"/>
            <a:ext cx="1725930" cy="502920"/>
          </a:xfrm>
          <a:prstGeom prst="roundRect">
            <a:avLst>
              <a:gd name="adj" fmla="val 16364"/>
            </a:avLst>
          </a:prstGeom>
          <a:solidFill>
            <a:srgbClr val="F4F6FB"/>
          </a:solidFill>
          <a:ln w="15875">
            <a:solidFill>
              <a:srgbClr val="CFE0EE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2484882" y="3794760"/>
            <a:ext cx="15796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</a:t>
            </a:r>
            <a:endParaRPr lang="en-US" sz="1050" dirty="0"/>
          </a:p>
        </p:txBody>
      </p:sp>
      <p:sp>
        <p:nvSpPr>
          <p:cNvPr id="37" name="Text 33"/>
          <p:cNvSpPr/>
          <p:nvPr/>
        </p:nvSpPr>
        <p:spPr>
          <a:xfrm>
            <a:off x="4114800" y="3794760"/>
            <a:ext cx="182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38" name="Shape 34"/>
          <p:cNvSpPr/>
          <p:nvPr/>
        </p:nvSpPr>
        <p:spPr>
          <a:xfrm>
            <a:off x="4274820" y="3794760"/>
            <a:ext cx="1725930" cy="502920"/>
          </a:xfrm>
          <a:prstGeom prst="roundRect">
            <a:avLst>
              <a:gd name="adj" fmla="val 16364"/>
            </a:avLst>
          </a:prstGeom>
          <a:solidFill>
            <a:srgbClr val="F4F6FB"/>
          </a:solidFill>
          <a:ln w="15875">
            <a:solidFill>
              <a:srgbClr val="CFE0EE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4347972" y="3794760"/>
            <a:ext cx="15796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/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endParaRPr lang="en-US" sz="1050" dirty="0"/>
          </a:p>
        </p:txBody>
      </p:sp>
      <p:sp>
        <p:nvSpPr>
          <p:cNvPr id="40" name="Text 36"/>
          <p:cNvSpPr/>
          <p:nvPr/>
        </p:nvSpPr>
        <p:spPr>
          <a:xfrm>
            <a:off x="5977890" y="3794760"/>
            <a:ext cx="182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41" name="Shape 37"/>
          <p:cNvSpPr/>
          <p:nvPr/>
        </p:nvSpPr>
        <p:spPr>
          <a:xfrm>
            <a:off x="6137910" y="3794760"/>
            <a:ext cx="1725930" cy="502920"/>
          </a:xfrm>
          <a:prstGeom prst="roundRect">
            <a:avLst>
              <a:gd name="adj" fmla="val 16364"/>
            </a:avLst>
          </a:prstGeom>
          <a:solidFill>
            <a:srgbClr val="F4F6FB"/>
          </a:solidFill>
          <a:ln w="15875">
            <a:solidFill>
              <a:srgbClr val="CFE0EE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6211062" y="3794760"/>
            <a:ext cx="15796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050" dirty="0"/>
          </a:p>
        </p:txBody>
      </p:sp>
      <p:pic>
        <p:nvPicPr>
          <p:cNvPr id="43" name="Image 2" descr="icons/arrow_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76" y="4334256"/>
            <a:ext cx="201168" cy="201168"/>
          </a:xfrm>
          <a:prstGeom prst="rect">
            <a:avLst/>
          </a:prstGeom>
        </p:spPr>
      </p:pic>
      <p:sp>
        <p:nvSpPr>
          <p:cNvPr id="44" name="Shape 39"/>
          <p:cNvSpPr/>
          <p:nvPr/>
        </p:nvSpPr>
        <p:spPr>
          <a:xfrm>
            <a:off x="2423160" y="4572000"/>
            <a:ext cx="7315200" cy="457200"/>
          </a:xfrm>
          <a:prstGeom prst="roundRect">
            <a:avLst>
              <a:gd name="adj" fmla="val 18000"/>
            </a:avLst>
          </a:prstGeom>
          <a:solidFill>
            <a:srgbClr val="003874"/>
          </a:solidFill>
          <a:ln w="15875">
            <a:solidFill>
              <a:srgbClr val="CFE0EE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2496312" y="4572000"/>
            <a:ext cx="7168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Else / Continue Conversation</a:t>
            </a:r>
            <a:endParaRPr lang="en-US" sz="1300" dirty="0"/>
          </a:p>
        </p:txBody>
      </p:sp>
      <p:sp>
        <p:nvSpPr>
          <p:cNvPr id="46" name="Text 41"/>
          <p:cNvSpPr/>
          <p:nvPr/>
        </p:nvSpPr>
        <p:spPr>
          <a:xfrm>
            <a:off x="502920" y="51663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nodes handle the customer's intent; child nodes manage additional information and branching required to complete a conversation.</a:t>
            </a:r>
            <a:endParaRPr lang="en-US" sz="1200" dirty="0"/>
          </a:p>
        </p:txBody>
      </p:sp>
      <p:sp>
        <p:nvSpPr>
          <p:cNvPr id="47" name="Text 42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BankEase AI — AI-Powered Banking Customer Support Chatbot</a:t>
            </a:r>
            <a:endParaRPr lang="en-US" sz="900" dirty="0"/>
          </a:p>
        </p:txBody>
      </p:sp>
      <p:sp>
        <p:nvSpPr>
          <p:cNvPr id="48" name="Text 43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Banking Intents Implemented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384048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8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Banking_Activate_Card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75888" y="1417320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card activation enquiries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180136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8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Banking_Cancel_Card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75888" y="1801368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card cancellation requests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2185416"/>
            <a:ext cx="5349240" cy="384048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8541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8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Banking_Fee_Inquiry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75888" y="2185416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questions about fees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256946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8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Banking_Replace_Card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75888" y="2569464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card replacement requests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2953512"/>
            <a:ext cx="5349240" cy="384048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95351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8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Banking_Report_Missing_Card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75888" y="2953512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lost / stolen card reports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0080" y="33375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8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Banking_Request_Card_Member_Agreement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675888" y="3337560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card agreement info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3721608"/>
            <a:ext cx="5349240" cy="384048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72160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8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Banking_Request_Checkbook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675888" y="3721608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checkbook requests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35040" y="1417320"/>
            <a:ext cx="5349240" cy="384048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14173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8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Banking_Request_Increase_In_Credit_Line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9162288" y="1417320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credit-limit increase requests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126480" y="180136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8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Banking_Set_Up_Direct_Deposit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9162288" y="1801368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direct deposit setup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35040" y="2185416"/>
            <a:ext cx="5349240" cy="384048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8" name="Text 26"/>
          <p:cNvSpPr/>
          <p:nvPr/>
        </p:nvSpPr>
        <p:spPr>
          <a:xfrm>
            <a:off x="6126480" y="218541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8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Banking_Transfer_Money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9162288" y="2185416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money transfer enquiries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126480" y="256946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8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Banking_View_Activity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9162288" y="2569464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account activity enquiries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035040" y="2953512"/>
            <a:ext cx="5349240" cy="384048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3" name="Text 31"/>
          <p:cNvSpPr/>
          <p:nvPr/>
        </p:nvSpPr>
        <p:spPr>
          <a:xfrm>
            <a:off x="6126480" y="295351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8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Banking_View_Pending_Charges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9162288" y="2953512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pending charge enquiries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126480" y="33375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8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Banking_View_Routing_Number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9162288" y="3337560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routing number enquiries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48640" y="4242816"/>
            <a:ext cx="5349240" cy="502920"/>
          </a:xfrm>
          <a:prstGeom prst="roundRect">
            <a:avLst>
              <a:gd name="adj" fmla="val 14545"/>
            </a:avLst>
          </a:prstGeom>
          <a:solidFill>
            <a:srgbClr val="003874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" y="4242816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intent represents a distinct customer goal.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035040" y="4242816"/>
            <a:ext cx="5349240" cy="594360"/>
          </a:xfrm>
          <a:prstGeom prst="roundRect">
            <a:avLst>
              <a:gd name="adj" fmla="val 12308"/>
            </a:avLst>
          </a:prstGeom>
          <a:solidFill>
            <a:srgbClr val="F4F6FB"/>
          </a:solidFill>
          <a:ln w="19050">
            <a:solidFill>
              <a:srgbClr val="CFE0EE"/>
            </a:solidFill>
            <a:prstDash val="dash"/>
          </a:ln>
        </p:spPr>
      </p:sp>
      <p:pic>
        <p:nvPicPr>
          <p:cNvPr id="40" name="Image 0" descr="icons/databas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3628" y="4037076"/>
            <a:ext cx="512064" cy="512064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6309360" y="4494276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 — IBM Intents Page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BankEase AI — AI-Powered Banking Customer Support Chatbot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Entities Designed for the Chatbot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49224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173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38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@card_type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697480" y="141732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· Debit Card · ATM Card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43100"/>
            <a:ext cx="649224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9431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38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@card_status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697480" y="194310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Damaged · Expired · Lost · Stolen · Blocked · Inactive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649224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4688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38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@fee_type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697480" y="246888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· Transaction · Replacement · Maintenance · Application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994660"/>
            <a:ext cx="649224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9946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38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@agreement_type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697480" y="299466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Member · Cardholder · Credit Card Agreement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649224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5204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38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@checkbook_request_type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697480" y="352044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Checkbook · Status · Renewal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046220"/>
            <a:ext cx="649224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0462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38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@transfer_type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697480" y="404622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· International · Internal Transfer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572000"/>
            <a:ext cx="649224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5720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38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@account_type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697480" y="457200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· Savings · Current Account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5125212"/>
            <a:ext cx="6492240" cy="384048"/>
          </a:xfrm>
          <a:prstGeom prst="roundRect">
            <a:avLst>
              <a:gd name="adj" fmla="val 14286"/>
            </a:avLst>
          </a:prstGeom>
          <a:solidFill>
            <a:srgbClr val="FCE3E3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5125212"/>
            <a:ext cx="6263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D1C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@sys-number</a:t>
            </a: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recognizes numeric values (e.g. transfer amounts)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60920" y="141732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INTENTS vs. ENTITIES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60920" y="169164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identify important information within a request; intents identify what the customer wants to accomplish.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60920" y="2423160"/>
            <a:ext cx="4251960" cy="2651760"/>
          </a:xfrm>
          <a:prstGeom prst="roundRect">
            <a:avLst>
              <a:gd name="adj" fmla="val 3448"/>
            </a:avLst>
          </a:prstGeom>
          <a:solidFill>
            <a:srgbClr val="003874"/>
          </a:solidFill>
          <a:ln/>
        </p:spPr>
      </p:sp>
      <p:sp>
        <p:nvSpPr>
          <p:cNvPr id="30" name="Text 28"/>
          <p:cNvSpPr/>
          <p:nvPr/>
        </p:nvSpPr>
        <p:spPr>
          <a:xfrm>
            <a:off x="7635240" y="260604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want to make an international transfer of 5000."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635240" y="324612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635240" y="350215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#Banking_Transfer_Money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635240" y="384962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635240" y="4105656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@transfer_type = International Transfer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635240" y="445312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ENTITY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635240" y="470916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@sys-number = 5000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BankEase AI — AI-Powered Banking Customer Support Chatbot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 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Detailed Conversation Flow — Money Transfer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760720" cy="333756"/>
          </a:xfrm>
          <a:prstGeom prst="roundRect">
            <a:avLst>
              <a:gd name="adj" fmla="val 21918"/>
            </a:avLst>
          </a:prstGeom>
          <a:solidFill>
            <a:srgbClr val="FCE3E3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17320"/>
            <a:ext cx="54864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CUSTOMER:  </a:t>
            </a: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want to transfer money.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805940"/>
            <a:ext cx="54864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Intent: #Banking_Transfer_Money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5760720" cy="333756"/>
          </a:xfrm>
          <a:prstGeom prst="roundRect">
            <a:avLst>
              <a:gd name="adj" fmla="val 21918"/>
            </a:avLst>
          </a:prstGeom>
          <a:solidFill>
            <a:srgbClr val="003874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194560"/>
            <a:ext cx="54864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BOT: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type of transfer would you like to make?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583180"/>
            <a:ext cx="5760720" cy="333756"/>
          </a:xfrm>
          <a:prstGeom prst="roundRect">
            <a:avLst>
              <a:gd name="adj" fmla="val 21918"/>
            </a:avLst>
          </a:prstGeom>
          <a:solidFill>
            <a:srgbClr val="CFE0EE"/>
          </a:solidFill>
          <a:ln w="9525">
            <a:solidFill>
              <a:srgbClr val="00387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583180"/>
            <a:ext cx="54864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Bank Transfer ]  [ International Transfer ]  [ Internal Transfer ]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5760720" cy="333756"/>
          </a:xfrm>
          <a:prstGeom prst="roundRect">
            <a:avLst>
              <a:gd name="adj" fmla="val 21918"/>
            </a:avLst>
          </a:prstGeom>
          <a:solidFill>
            <a:srgbClr val="003874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971800"/>
            <a:ext cx="54864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BOT: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would you like to transfer?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3360420"/>
            <a:ext cx="5760720" cy="333756"/>
          </a:xfrm>
          <a:prstGeom prst="roundRect">
            <a:avLst>
              <a:gd name="adj" fmla="val 21918"/>
            </a:avLst>
          </a:prstGeom>
          <a:solidFill>
            <a:srgbClr val="FCE3E3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360420"/>
            <a:ext cx="54864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CUSTOMER:  </a:t>
            </a: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800" y="3749040"/>
            <a:ext cx="54864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@sys-number = 5000  →  Transfer Amount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4137660"/>
            <a:ext cx="5760720" cy="333756"/>
          </a:xfrm>
          <a:prstGeom prst="roundRect">
            <a:avLst>
              <a:gd name="adj" fmla="val 21918"/>
            </a:avLst>
          </a:prstGeom>
          <a:solidFill>
            <a:srgbClr val="003874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137660"/>
            <a:ext cx="54864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BOT: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requested a [transfer type] of 5000. Confirm?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4526280"/>
            <a:ext cx="5760720" cy="333756"/>
          </a:xfrm>
          <a:prstGeom prst="roundRect">
            <a:avLst>
              <a:gd name="adj" fmla="val 21918"/>
            </a:avLst>
          </a:prstGeom>
          <a:solidFill>
            <a:srgbClr val="CFE0EE"/>
          </a:solidFill>
          <a:ln w="9525">
            <a:solidFill>
              <a:srgbClr val="00387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526280"/>
            <a:ext cx="54864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Yes, Confirm ]   [ No, Cancel ]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4914900"/>
            <a:ext cx="5760720" cy="333756"/>
          </a:xfrm>
          <a:prstGeom prst="roundRect">
            <a:avLst>
              <a:gd name="adj" fmla="val 21918"/>
            </a:avLst>
          </a:prstGeom>
          <a:solidFill>
            <a:srgbClr val="003874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914900"/>
            <a:ext cx="54864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BOT: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response delivered to customer.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583680" y="1417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DIALOG CONCEPTS USED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83680" y="1737360"/>
            <a:ext cx="402336" cy="402336"/>
          </a:xfrm>
          <a:prstGeom prst="ellipse">
            <a:avLst/>
          </a:prstGeom>
          <a:solidFill>
            <a:srgbClr val="CFE0EE"/>
          </a:solidFill>
          <a:ln/>
        </p:spPr>
      </p:sp>
      <p:pic>
        <p:nvPicPr>
          <p:cNvPr id="24" name="Image 0" descr="icons/gears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4206" y="1827886"/>
            <a:ext cx="221285" cy="221285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086600" y="1719072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
</a:t>
            </a: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Presents predefined choices to the customer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583680" y="2450592"/>
            <a:ext cx="402336" cy="402336"/>
          </a:xfrm>
          <a:prstGeom prst="ellipse">
            <a:avLst/>
          </a:prstGeom>
          <a:solidFill>
            <a:srgbClr val="FCE3E3"/>
          </a:solidFill>
          <a:ln/>
        </p:spPr>
      </p:sp>
      <p:pic>
        <p:nvPicPr>
          <p:cNvPr id="27" name="Image 1" descr="icons/gears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4206" y="2541118"/>
            <a:ext cx="221285" cy="221285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7086600" y="2432304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Nodes
</a:t>
            </a: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branching for each transfer type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6583680" y="3163824"/>
            <a:ext cx="402336" cy="402336"/>
          </a:xfrm>
          <a:prstGeom prst="ellipse">
            <a:avLst/>
          </a:prstGeom>
          <a:solidFill>
            <a:srgbClr val="CFE0EE"/>
          </a:solidFill>
          <a:ln/>
        </p:spPr>
      </p:sp>
      <p:pic>
        <p:nvPicPr>
          <p:cNvPr id="30" name="Image 2" descr="icons/gears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4206" y="3254350"/>
            <a:ext cx="221285" cy="221285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7086600" y="3145536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reply
</a:t>
            </a: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Pauses the flow for the customer's next input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6583680" y="3877056"/>
            <a:ext cx="402336" cy="402336"/>
          </a:xfrm>
          <a:prstGeom prst="ellipse">
            <a:avLst/>
          </a:prstGeom>
          <a:solidFill>
            <a:srgbClr val="FCE3E3"/>
          </a:solidFill>
          <a:ln/>
        </p:spPr>
      </p:sp>
      <p:pic>
        <p:nvPicPr>
          <p:cNvPr id="33" name="Image 3" descr="icons/gears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4206" y="3967582"/>
            <a:ext cx="221285" cy="221285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7086600" y="385876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Entities
</a:t>
            </a: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@sys-number captures the transfer amount</a:t>
            </a:r>
            <a:endParaRPr lang="en-US" sz="1200" dirty="0"/>
          </a:p>
        </p:txBody>
      </p:sp>
      <p:sp>
        <p:nvSpPr>
          <p:cNvPr id="35" name="Shape 29"/>
          <p:cNvSpPr/>
          <p:nvPr/>
        </p:nvSpPr>
        <p:spPr>
          <a:xfrm>
            <a:off x="6583680" y="4590288"/>
            <a:ext cx="402336" cy="402336"/>
          </a:xfrm>
          <a:prstGeom prst="ellipse">
            <a:avLst/>
          </a:prstGeom>
          <a:solidFill>
            <a:srgbClr val="CFE0EE"/>
          </a:solidFill>
          <a:ln/>
        </p:spPr>
      </p:sp>
      <p:pic>
        <p:nvPicPr>
          <p:cNvPr id="36" name="Image 4" descr="icons/gears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4206" y="4680814"/>
            <a:ext cx="221285" cy="221285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7086600" y="457200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Variables
</a:t>
            </a: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transfer type &amp; amount across turns</a:t>
            </a:r>
            <a:endParaRPr lang="en-US" sz="1200" dirty="0"/>
          </a:p>
        </p:txBody>
      </p:sp>
      <p:sp>
        <p:nvSpPr>
          <p:cNvPr id="38" name="Shape 31"/>
          <p:cNvSpPr/>
          <p:nvPr/>
        </p:nvSpPr>
        <p:spPr>
          <a:xfrm>
            <a:off x="6583680" y="5303520"/>
            <a:ext cx="402336" cy="402336"/>
          </a:xfrm>
          <a:prstGeom prst="ellipse">
            <a:avLst/>
          </a:prstGeom>
          <a:solidFill>
            <a:srgbClr val="FCE3E3"/>
          </a:solidFill>
          <a:ln/>
        </p:spPr>
      </p:sp>
      <p:pic>
        <p:nvPicPr>
          <p:cNvPr id="39" name="Image 5" descr="icons/gears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4206" y="5394046"/>
            <a:ext cx="221285" cy="221285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7086600" y="5285232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
</a:t>
            </a: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details before completing the request</a:t>
            </a:r>
            <a:endParaRPr lang="en-US" sz="1200" dirty="0"/>
          </a:p>
        </p:txBody>
      </p:sp>
      <p:sp>
        <p:nvSpPr>
          <p:cNvPr id="41" name="Text 33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BankEase AI — AI-Powered Banking Customer Support Chatbot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 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Additional Dialog Flows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11880" cy="3977640"/>
          </a:xfrm>
          <a:prstGeom prst="roundRect">
            <a:avLst>
              <a:gd name="adj" fmla="val 2532"/>
            </a:avLst>
          </a:prstGeom>
          <a:solidFill>
            <a:srgbClr val="F4F6FB"/>
          </a:solidFill>
          <a:ln w="12700">
            <a:solidFill>
              <a:srgbClr val="CFE0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0" y="162306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icons/money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5985" y="1777365"/>
            <a:ext cx="377190" cy="377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3774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Inquiry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22960" y="2880360"/>
            <a:ext cx="306324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CFE0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96112" y="2880360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type of fee?”</a:t>
            </a:r>
            <a:endParaRPr lang="en-US" sz="1100" dirty="0"/>
          </a:p>
        </p:txBody>
      </p:sp>
      <p:pic>
        <p:nvPicPr>
          <p:cNvPr id="10" name="Image 1" descr="icons/arrow_d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3996" y="3355848"/>
            <a:ext cx="201168" cy="14630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22960" y="3520440"/>
            <a:ext cx="3063240" cy="548640"/>
          </a:xfrm>
          <a:prstGeom prst="roundRect">
            <a:avLst>
              <a:gd name="adj" fmla="val 15000"/>
            </a:avLst>
          </a:prstGeom>
          <a:solidFill>
            <a:srgbClr val="FCE3E3"/>
          </a:solidFill>
          <a:ln w="15875">
            <a:solidFill>
              <a:srgbClr val="ED1C2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96112" y="3520440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· Transaction · Replacement</a:t>
            </a:r>
            <a:endParaRPr lang="en-US" sz="1050" dirty="0"/>
          </a:p>
        </p:txBody>
      </p:sp>
      <p:pic>
        <p:nvPicPr>
          <p:cNvPr id="13" name="Image 2" descr="icons/arrow_d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3996" y="4087368"/>
            <a:ext cx="201168" cy="146304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22960" y="4251960"/>
            <a:ext cx="3063240" cy="502920"/>
          </a:xfrm>
          <a:prstGeom prst="roundRect">
            <a:avLst>
              <a:gd name="adj" fmla="val 16364"/>
            </a:avLst>
          </a:prstGeom>
          <a:solidFill>
            <a:srgbClr val="003874"/>
          </a:solidFill>
          <a:ln w="15875">
            <a:solidFill>
              <a:srgbClr val="CFE0EE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896112" y="4251960"/>
            <a:ext cx="2916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fee information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297680" y="1463040"/>
            <a:ext cx="3611880" cy="3977640"/>
          </a:xfrm>
          <a:prstGeom prst="roundRect">
            <a:avLst>
              <a:gd name="adj" fmla="val 2532"/>
            </a:avLst>
          </a:prstGeom>
          <a:solidFill>
            <a:srgbClr val="F4F6FB"/>
          </a:solidFill>
          <a:ln w="12700">
            <a:solidFill>
              <a:srgbClr val="CFE0E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760720" y="162306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3" descr="icons/card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5025" y="1777365"/>
            <a:ext cx="377190" cy="37719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480560" y="23774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Card</a:t>
            </a:r>
            <a:endParaRPr lang="en-US" sz="1450" dirty="0"/>
          </a:p>
        </p:txBody>
      </p:sp>
      <p:sp>
        <p:nvSpPr>
          <p:cNvPr id="20" name="Shape 14"/>
          <p:cNvSpPr/>
          <p:nvPr/>
        </p:nvSpPr>
        <p:spPr>
          <a:xfrm>
            <a:off x="4572000" y="2880360"/>
            <a:ext cx="306324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CFE0EE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4645152" y="2880360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the reason?”</a:t>
            </a:r>
            <a:endParaRPr lang="en-US" sz="1100" dirty="0"/>
          </a:p>
        </p:txBody>
      </p:sp>
      <p:pic>
        <p:nvPicPr>
          <p:cNvPr id="22" name="Image 4" descr="icons/arrow_d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3036" y="3355848"/>
            <a:ext cx="201168" cy="146304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4572000" y="3520440"/>
            <a:ext cx="3063240" cy="548640"/>
          </a:xfrm>
          <a:prstGeom prst="roundRect">
            <a:avLst>
              <a:gd name="adj" fmla="val 15000"/>
            </a:avLst>
          </a:prstGeom>
          <a:solidFill>
            <a:srgbClr val="FCE3E3"/>
          </a:solidFill>
          <a:ln w="15875">
            <a:solidFill>
              <a:srgbClr val="ED1C24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4645152" y="3520440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Damaged · Expired · Lost · Stolen</a:t>
            </a:r>
            <a:endParaRPr lang="en-US" sz="1050" dirty="0"/>
          </a:p>
        </p:txBody>
      </p:sp>
      <p:pic>
        <p:nvPicPr>
          <p:cNvPr id="25" name="Image 5" descr="icons/arrow_d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3036" y="4087368"/>
            <a:ext cx="201168" cy="146304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4572000" y="4251960"/>
            <a:ext cx="3063240" cy="502920"/>
          </a:xfrm>
          <a:prstGeom prst="roundRect">
            <a:avLst>
              <a:gd name="adj" fmla="val 16364"/>
            </a:avLst>
          </a:prstGeom>
          <a:solidFill>
            <a:srgbClr val="003874"/>
          </a:solidFill>
          <a:ln w="15875">
            <a:solidFill>
              <a:srgbClr val="CFE0EE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4645152" y="4251960"/>
            <a:ext cx="2916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replacement guidance</a:t>
            </a:r>
            <a:endParaRPr lang="en-US" sz="1050" dirty="0"/>
          </a:p>
        </p:txBody>
      </p:sp>
      <p:sp>
        <p:nvSpPr>
          <p:cNvPr id="28" name="Shape 20"/>
          <p:cNvSpPr/>
          <p:nvPr/>
        </p:nvSpPr>
        <p:spPr>
          <a:xfrm>
            <a:off x="8046720" y="1463040"/>
            <a:ext cx="3611880" cy="3977640"/>
          </a:xfrm>
          <a:prstGeom prst="roundRect">
            <a:avLst>
              <a:gd name="adj" fmla="val 2532"/>
            </a:avLst>
          </a:prstGeom>
          <a:solidFill>
            <a:srgbClr val="F4F6FB"/>
          </a:solidFill>
          <a:ln w="12700">
            <a:solidFill>
              <a:srgbClr val="CFE0EE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9509760" y="162306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6" descr="icons/book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64065" y="1777365"/>
            <a:ext cx="377190" cy="37719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8229600" y="23774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Checkbook</a:t>
            </a:r>
            <a:endParaRPr lang="en-US" sz="1450" dirty="0"/>
          </a:p>
        </p:txBody>
      </p:sp>
      <p:sp>
        <p:nvSpPr>
          <p:cNvPr id="32" name="Shape 23"/>
          <p:cNvSpPr/>
          <p:nvPr/>
        </p:nvSpPr>
        <p:spPr>
          <a:xfrm>
            <a:off x="8321040" y="2880360"/>
            <a:ext cx="306324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CFE0EE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8394192" y="2880360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would you like to do?”</a:t>
            </a:r>
            <a:endParaRPr lang="en-US" sz="1100" dirty="0"/>
          </a:p>
        </p:txBody>
      </p:sp>
      <p:pic>
        <p:nvPicPr>
          <p:cNvPr id="34" name="Image 7" descr="icons/arrow_d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2076" y="3355848"/>
            <a:ext cx="201168" cy="146304"/>
          </a:xfrm>
          <a:prstGeom prst="rect">
            <a:avLst/>
          </a:prstGeom>
        </p:spPr>
      </p:pic>
      <p:sp>
        <p:nvSpPr>
          <p:cNvPr id="35" name="Shape 25"/>
          <p:cNvSpPr/>
          <p:nvPr/>
        </p:nvSpPr>
        <p:spPr>
          <a:xfrm>
            <a:off x="8321040" y="3520440"/>
            <a:ext cx="3063240" cy="548640"/>
          </a:xfrm>
          <a:prstGeom prst="roundRect">
            <a:avLst>
              <a:gd name="adj" fmla="val 15000"/>
            </a:avLst>
          </a:prstGeom>
          <a:solidFill>
            <a:srgbClr val="FCE3E3"/>
          </a:solidFill>
          <a:ln w="15875">
            <a:solidFill>
              <a:srgbClr val="ED1C24"/>
            </a:solidFill>
            <a:prstDash val="solid"/>
          </a:ln>
        </p:spPr>
      </p:sp>
      <p:sp>
        <p:nvSpPr>
          <p:cNvPr id="36" name="Text 26"/>
          <p:cNvSpPr/>
          <p:nvPr/>
        </p:nvSpPr>
        <p:spPr>
          <a:xfrm>
            <a:off x="8394192" y="3520440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· Status · Renewal</a:t>
            </a:r>
            <a:endParaRPr lang="en-US" sz="1050" dirty="0"/>
          </a:p>
        </p:txBody>
      </p:sp>
      <p:pic>
        <p:nvPicPr>
          <p:cNvPr id="37" name="Image 8" descr="icons/arrow_d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2076" y="4087368"/>
            <a:ext cx="201168" cy="146304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8321040" y="4251960"/>
            <a:ext cx="3063240" cy="502920"/>
          </a:xfrm>
          <a:prstGeom prst="roundRect">
            <a:avLst>
              <a:gd name="adj" fmla="val 16364"/>
            </a:avLst>
          </a:prstGeom>
          <a:solidFill>
            <a:srgbClr val="003874"/>
          </a:solidFill>
          <a:ln w="15875">
            <a:solidFill>
              <a:srgbClr val="CFE0EE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8394192" y="4251960"/>
            <a:ext cx="2916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checkbook response</a:t>
            </a:r>
            <a:endParaRPr lang="en-US" sz="1050" dirty="0"/>
          </a:p>
        </p:txBody>
      </p:sp>
      <p:sp>
        <p:nvSpPr>
          <p:cNvPr id="40" name="Text 29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nodes allow the chatbot to continue a conversation instead of providing a single static response.</a:t>
            </a:r>
            <a:endParaRPr lang="en-US" sz="1250" dirty="0"/>
          </a:p>
        </p:txBody>
      </p:sp>
      <p:sp>
        <p:nvSpPr>
          <p:cNvPr id="41" name="Text 30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BankEase AI — AI-Powered Banking Customer Support Chatbot</a:t>
            </a:r>
            <a:endParaRPr lang="en-US" sz="900" dirty="0"/>
          </a:p>
        </p:txBody>
      </p:sp>
      <p:sp>
        <p:nvSpPr>
          <p:cNvPr id="42" name="Text 31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 Design &amp; User Experience</a:t>
            </a:r>
            <a:endParaRPr lang="en-US" sz="3000" dirty="0"/>
          </a:p>
        </p:txBody>
      </p:sp>
      <p:pic>
        <p:nvPicPr>
          <p:cNvPr id="4" name="Image 0" descr="icons/chat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44752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41732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 —  </a:t>
            </a: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information and instructions</a:t>
            </a:r>
            <a:endParaRPr lang="en-US" sz="1200" dirty="0"/>
          </a:p>
        </p:txBody>
      </p:sp>
      <p:pic>
        <p:nvPicPr>
          <p:cNvPr id="6" name="Image 1" descr="icons/lis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865376"/>
            <a:ext cx="292608" cy="2926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0120" y="1837944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 —  </a:t>
            </a: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predefined choices, reduces ambiguity</a:t>
            </a:r>
            <a:endParaRPr lang="en-US" sz="1200" dirty="0"/>
          </a:p>
        </p:txBody>
      </p:sp>
      <p:pic>
        <p:nvPicPr>
          <p:cNvPr id="8" name="Image 2" descr="icons/clock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286000"/>
            <a:ext cx="292608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60120" y="225856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reply  —  </a:t>
            </a: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multi-turn conversation</a:t>
            </a:r>
            <a:endParaRPr lang="en-US" sz="1200" dirty="0"/>
          </a:p>
        </p:txBody>
      </p:sp>
      <p:pic>
        <p:nvPicPr>
          <p:cNvPr id="10" name="Image 3" descr="icons/database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2706624"/>
            <a:ext cx="292608" cy="29260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0120" y="2679192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variables  —  </a:t>
            </a: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information across turns</a:t>
            </a:r>
            <a:endParaRPr lang="en-US" sz="1200" dirty="0"/>
          </a:p>
        </p:txBody>
      </p:sp>
      <p:pic>
        <p:nvPicPr>
          <p:cNvPr id="12" name="Image 4" descr="icons/reply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3127248"/>
            <a:ext cx="292608" cy="29260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60120" y="3099816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Else  —  </a:t>
            </a: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continuation and fallback</a:t>
            </a:r>
            <a:endParaRPr lang="en-US" sz="1200" dirty="0"/>
          </a:p>
        </p:txBody>
      </p:sp>
      <p:sp>
        <p:nvSpPr>
          <p:cNvPr id="14" name="Text 7"/>
          <p:cNvSpPr/>
          <p:nvPr/>
        </p:nvSpPr>
        <p:spPr>
          <a:xfrm>
            <a:off x="548640" y="35661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design reduces typing effort and improves consistency.</a:t>
            </a:r>
            <a:endParaRPr lang="en-US" sz="1150" dirty="0"/>
          </a:p>
        </p:txBody>
      </p:sp>
      <p:sp>
        <p:nvSpPr>
          <p:cNvPr id="15" name="Text 8"/>
          <p:cNvSpPr/>
          <p:nvPr/>
        </p:nvSpPr>
        <p:spPr>
          <a:xfrm>
            <a:off x="548640" y="40233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APPLIED</a:t>
            </a:r>
            <a:endParaRPr lang="en-US" sz="1100" dirty="0"/>
          </a:p>
        </p:txBody>
      </p:sp>
      <p:sp>
        <p:nvSpPr>
          <p:cNvPr id="16" name="Text 9"/>
          <p:cNvSpPr/>
          <p:nvPr/>
        </p:nvSpPr>
        <p:spPr>
          <a:xfrm>
            <a:off x="548640" y="431596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Friendly, clear language</a:t>
            </a:r>
            <a:endParaRPr lang="en-US" sz="1100" dirty="0"/>
          </a:p>
        </p:txBody>
      </p:sp>
      <p:sp>
        <p:nvSpPr>
          <p:cNvPr id="17" name="Text 10"/>
          <p:cNvSpPr/>
          <p:nvPr/>
        </p:nvSpPr>
        <p:spPr>
          <a:xfrm>
            <a:off x="548640" y="460857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Emojis used sparingly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548640" y="490118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Security reminders</a:t>
            </a:r>
            <a:endParaRPr lang="en-US" sz="1100" dirty="0"/>
          </a:p>
        </p:txBody>
      </p:sp>
      <p:sp>
        <p:nvSpPr>
          <p:cNvPr id="19" name="Text 12"/>
          <p:cNvSpPr/>
          <p:nvPr/>
        </p:nvSpPr>
        <p:spPr>
          <a:xfrm>
            <a:off x="548640" y="519379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Never requests PIN, OTP or authentication details</a:t>
            </a: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6309360" y="1417320"/>
            <a:ext cx="5303520" cy="2743200"/>
          </a:xfrm>
          <a:prstGeom prst="roundRect">
            <a:avLst>
              <a:gd name="adj" fmla="val 4000"/>
            </a:avLst>
          </a:prstGeom>
          <a:solidFill>
            <a:srgbClr val="003874"/>
          </a:solidFill>
          <a:ln/>
        </p:spPr>
      </p:sp>
      <p:sp>
        <p:nvSpPr>
          <p:cNvPr id="21" name="Text 14"/>
          <p:cNvSpPr/>
          <p:nvPr/>
        </p:nvSpPr>
        <p:spPr>
          <a:xfrm>
            <a:off x="6629400" y="162763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6629400" y="1965960"/>
            <a:ext cx="3931920" cy="548640"/>
          </a:xfrm>
          <a:prstGeom prst="roundRect">
            <a:avLst>
              <a:gd name="adj" fmla="val 16667"/>
            </a:avLst>
          </a:prstGeom>
          <a:solidFill>
            <a:srgbClr val="00223E"/>
          </a:solidFill>
          <a:ln/>
        </p:spPr>
      </p:sp>
      <p:sp>
        <p:nvSpPr>
          <p:cNvPr id="23" name="Text 16"/>
          <p:cNvSpPr/>
          <p:nvPr/>
        </p:nvSpPr>
        <p:spPr>
          <a:xfrm>
            <a:off x="6766560" y="19659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BOT: What type of transfer would you like?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6629400" y="2697480"/>
            <a:ext cx="3931920" cy="402336"/>
          </a:xfrm>
          <a:prstGeom prst="roundRect">
            <a:avLst>
              <a:gd name="adj" fmla="val 50000"/>
            </a:avLst>
          </a:prstGeom>
          <a:solidFill>
            <a:srgbClr val="ED1C24"/>
          </a:solidFill>
          <a:ln/>
        </p:spPr>
      </p:sp>
      <p:sp>
        <p:nvSpPr>
          <p:cNvPr id="25" name="Text 18"/>
          <p:cNvSpPr/>
          <p:nvPr/>
        </p:nvSpPr>
        <p:spPr>
          <a:xfrm>
            <a:off x="6629400" y="269748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Transfer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6629400" y="3200400"/>
            <a:ext cx="3931920" cy="402336"/>
          </a:xfrm>
          <a:prstGeom prst="roundRect">
            <a:avLst>
              <a:gd name="adj" fmla="val 50000"/>
            </a:avLst>
          </a:prstGeom>
          <a:solidFill>
            <a:srgbClr val="ED1C24"/>
          </a:solidFill>
          <a:ln/>
        </p:spPr>
      </p:sp>
      <p:sp>
        <p:nvSpPr>
          <p:cNvPr id="27" name="Text 20"/>
          <p:cNvSpPr/>
          <p:nvPr/>
        </p:nvSpPr>
        <p:spPr>
          <a:xfrm>
            <a:off x="6629400" y="320040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Transfer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6629400" y="3703320"/>
            <a:ext cx="3931920" cy="402336"/>
          </a:xfrm>
          <a:prstGeom prst="roundRect">
            <a:avLst>
              <a:gd name="adj" fmla="val 50000"/>
            </a:avLst>
          </a:prstGeom>
          <a:solidFill>
            <a:srgbClr val="ED1C24"/>
          </a:solidFill>
          <a:ln/>
        </p:spPr>
      </p:sp>
      <p:sp>
        <p:nvSpPr>
          <p:cNvPr id="29" name="Text 22"/>
          <p:cNvSpPr/>
          <p:nvPr/>
        </p:nvSpPr>
        <p:spPr>
          <a:xfrm>
            <a:off x="6629400" y="370332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Transfer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BankEase AI — AI-Powered Banking Customer Support Chatbot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Methodology &amp; Customer Scenarios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chatbot was tested using natural-language customer inputs through the IBM watsonx Assistant “Try it” interface.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7315200" cy="384048"/>
          </a:xfrm>
          <a:prstGeom prst="roundRect">
            <a:avLst>
              <a:gd name="adj" fmla="val 11905"/>
            </a:avLst>
          </a:prstGeom>
          <a:solidFill>
            <a:srgbClr val="003874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87452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Input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24528" y="18745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Intent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967728" y="18745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258568"/>
            <a:ext cx="7315200" cy="457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225856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want to activate my card.”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24528" y="225856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8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Banking_Activate_Card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967728" y="225856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58368" y="271576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“My card has been stolen.”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224528" y="271576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8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Banking_Report_Missing_Card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967728" y="271576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172968"/>
            <a:ext cx="7315200" cy="457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317296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much is the annual card fee?”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224528" y="317296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8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Banking_Fee_Inquiry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967728" y="317296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Fee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58368" y="363016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“My card is damaged and needs replacement.”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224528" y="363016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8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Banking_Replace_Card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967728" y="363016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087368"/>
            <a:ext cx="7315200" cy="457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408736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want to make an international transfer.”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224528" y="408736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8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Banking_Transfer_Money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967728" y="408736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Transfer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58368" y="454456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“Show my recent account activity.”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224528" y="454456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8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Banking_View_Activity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967728" y="454456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8640" y="5001768"/>
            <a:ext cx="7315200" cy="457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" y="500176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“Where can I find my routing number?”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224528" y="500176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8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Banking_View_Routing_Number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967728" y="500176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BankEase AI — AI-Powered Banking Customer Support Chatbot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Evaluation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766560" cy="384048"/>
          </a:xfrm>
          <a:prstGeom prst="roundRect">
            <a:avLst>
              <a:gd name="adj" fmla="val 11905"/>
            </a:avLst>
          </a:prstGeom>
          <a:solidFill>
            <a:srgbClr val="003874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41732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Scenario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035808" y="141732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/ Actual Result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327648" y="141732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801368"/>
            <a:ext cx="6766560" cy="384048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80136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card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035808" y="180136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guidance</a:t>
            </a:r>
            <a:endParaRPr lang="en-US" sz="950" dirty="0"/>
          </a:p>
        </p:txBody>
      </p:sp>
      <p:pic>
        <p:nvPicPr>
          <p:cNvPr id="11" name="Image 0" descr="icons/check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901952"/>
            <a:ext cx="182880" cy="1828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583680" y="180136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58368" y="2185416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card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035808" y="2185416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/ blocking guidance</a:t>
            </a:r>
            <a:endParaRPr lang="en-US" sz="950" dirty="0"/>
          </a:p>
        </p:txBody>
      </p:sp>
      <p:pic>
        <p:nvPicPr>
          <p:cNvPr id="15" name="Image 1" descr="icons/check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286000"/>
            <a:ext cx="182880" cy="1828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583680" y="218541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548640" y="2569464"/>
            <a:ext cx="6766560" cy="384048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8" name="Text 14"/>
          <p:cNvSpPr/>
          <p:nvPr/>
        </p:nvSpPr>
        <p:spPr>
          <a:xfrm>
            <a:off x="658368" y="2569464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fee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3035808" y="2569464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information</a:t>
            </a:r>
            <a:endParaRPr lang="en-US" sz="950" dirty="0"/>
          </a:p>
        </p:txBody>
      </p:sp>
      <p:pic>
        <p:nvPicPr>
          <p:cNvPr id="20" name="Image 2" descr="icons/check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670048"/>
            <a:ext cx="182880" cy="1828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583680" y="256946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658368" y="295351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damaged card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3035808" y="295351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guidance</a:t>
            </a:r>
            <a:endParaRPr lang="en-US" sz="950" dirty="0"/>
          </a:p>
        </p:txBody>
      </p:sp>
      <p:pic>
        <p:nvPicPr>
          <p:cNvPr id="24" name="Image 3" descr="icons/check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3054096"/>
            <a:ext cx="182880" cy="1828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583680" y="295351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548640" y="3337560"/>
            <a:ext cx="6766560" cy="384048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7" name="Text 21"/>
          <p:cNvSpPr/>
          <p:nvPr/>
        </p:nvSpPr>
        <p:spPr>
          <a:xfrm>
            <a:off x="658368" y="33375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transfer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3035808" y="333756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multi-step flow</a:t>
            </a:r>
            <a:endParaRPr lang="en-US" sz="950" dirty="0"/>
          </a:p>
        </p:txBody>
      </p:sp>
      <p:pic>
        <p:nvPicPr>
          <p:cNvPr id="29" name="Image 4" descr="icons/check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3438144"/>
            <a:ext cx="182880" cy="18288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583680" y="333756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50" dirty="0"/>
          </a:p>
        </p:txBody>
      </p:sp>
      <p:sp>
        <p:nvSpPr>
          <p:cNvPr id="31" name="Text 24"/>
          <p:cNvSpPr/>
          <p:nvPr/>
        </p:nvSpPr>
        <p:spPr>
          <a:xfrm>
            <a:off x="658368" y="372160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activity</a:t>
            </a:r>
            <a:endParaRPr lang="en-US" sz="950" dirty="0"/>
          </a:p>
        </p:txBody>
      </p:sp>
      <p:sp>
        <p:nvSpPr>
          <p:cNvPr id="32" name="Text 25"/>
          <p:cNvSpPr/>
          <p:nvPr/>
        </p:nvSpPr>
        <p:spPr>
          <a:xfrm>
            <a:off x="3035808" y="372160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guidance</a:t>
            </a:r>
            <a:endParaRPr lang="en-US" sz="950" dirty="0"/>
          </a:p>
        </p:txBody>
      </p:sp>
      <p:pic>
        <p:nvPicPr>
          <p:cNvPr id="33" name="Image 5" descr="icons/check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3822192"/>
            <a:ext cx="182880" cy="18288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583680" y="372160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548640" y="4105656"/>
            <a:ext cx="6766560" cy="384048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6" name="Text 28"/>
          <p:cNvSpPr/>
          <p:nvPr/>
        </p:nvSpPr>
        <p:spPr>
          <a:xfrm>
            <a:off x="658368" y="4105656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number</a:t>
            </a:r>
            <a:endParaRPr lang="en-US" sz="950" dirty="0"/>
          </a:p>
        </p:txBody>
      </p:sp>
      <p:sp>
        <p:nvSpPr>
          <p:cNvPr id="37" name="Text 29"/>
          <p:cNvSpPr/>
          <p:nvPr/>
        </p:nvSpPr>
        <p:spPr>
          <a:xfrm>
            <a:off x="3035808" y="4105656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information</a:t>
            </a:r>
            <a:endParaRPr lang="en-US" sz="950" dirty="0"/>
          </a:p>
        </p:txBody>
      </p:sp>
      <p:pic>
        <p:nvPicPr>
          <p:cNvPr id="38" name="Image 6" descr="icons/check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4206240"/>
            <a:ext cx="182880" cy="18288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6583680" y="410565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50" dirty="0"/>
          </a:p>
        </p:txBody>
      </p:sp>
      <p:sp>
        <p:nvSpPr>
          <p:cNvPr id="40" name="Text 31"/>
          <p:cNvSpPr/>
          <p:nvPr/>
        </p:nvSpPr>
        <p:spPr>
          <a:xfrm>
            <a:off x="7635240" y="14173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HIGHLIGHTS</a:t>
            </a:r>
            <a:endParaRPr lang="en-US" sz="1100" dirty="0"/>
          </a:p>
        </p:txBody>
      </p:sp>
      <p:pic>
        <p:nvPicPr>
          <p:cNvPr id="41" name="Image 7" descr="icons/check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755648"/>
            <a:ext cx="182880" cy="18288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7909560" y="173736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identifies common banking intents</a:t>
            </a:r>
            <a:endParaRPr lang="en-US" sz="1050" dirty="0"/>
          </a:p>
        </p:txBody>
      </p:sp>
      <p:pic>
        <p:nvPicPr>
          <p:cNvPr id="43" name="Image 8" descr="icons/check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2139696"/>
            <a:ext cx="182880" cy="182880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7909560" y="212140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multi-turn conversation</a:t>
            </a:r>
            <a:endParaRPr lang="en-US" sz="1050" dirty="0"/>
          </a:p>
        </p:txBody>
      </p:sp>
      <p:pic>
        <p:nvPicPr>
          <p:cNvPr id="45" name="Image 9" descr="icons/check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2523744"/>
            <a:ext cx="182880" cy="182880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7909560" y="250545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entities for relevant information</a:t>
            </a:r>
            <a:endParaRPr lang="en-US" sz="1050" dirty="0"/>
          </a:p>
        </p:txBody>
      </p:sp>
      <p:pic>
        <p:nvPicPr>
          <p:cNvPr id="47" name="Image 10" descr="icons/check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2907792"/>
            <a:ext cx="182880" cy="182880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7909560" y="2889504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options to reduce ambiguity</a:t>
            </a:r>
            <a:endParaRPr lang="en-US" sz="1050" dirty="0"/>
          </a:p>
        </p:txBody>
      </p:sp>
      <p:pic>
        <p:nvPicPr>
          <p:cNvPr id="49" name="Image 11" descr="icons/check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3291840"/>
            <a:ext cx="182880" cy="182880"/>
          </a:xfrm>
          <a:prstGeom prst="rect">
            <a:avLst/>
          </a:prstGeom>
        </p:spPr>
      </p:pic>
      <p:sp>
        <p:nvSpPr>
          <p:cNvPr id="50" name="Text 36"/>
          <p:cNvSpPr/>
          <p:nvPr/>
        </p:nvSpPr>
        <p:spPr>
          <a:xfrm>
            <a:off x="7909560" y="327355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consistent responses</a:t>
            </a:r>
            <a:endParaRPr lang="en-US" sz="1050" dirty="0"/>
          </a:p>
        </p:txBody>
      </p:sp>
      <p:pic>
        <p:nvPicPr>
          <p:cNvPr id="51" name="Image 12" descr="icons/check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3675888"/>
            <a:ext cx="182880" cy="182880"/>
          </a:xfrm>
          <a:prstGeom prst="rect">
            <a:avLst/>
          </a:prstGeom>
        </p:spPr>
      </p:pic>
      <p:sp>
        <p:nvSpPr>
          <p:cNvPr id="52" name="Text 37"/>
          <p:cNvSpPr/>
          <p:nvPr/>
        </p:nvSpPr>
        <p:spPr>
          <a:xfrm>
            <a:off x="7909560" y="365760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fallback via “Anything else”</a:t>
            </a:r>
            <a:endParaRPr lang="en-US" sz="1050" dirty="0"/>
          </a:p>
        </p:txBody>
      </p:sp>
      <p:pic>
        <p:nvPicPr>
          <p:cNvPr id="53" name="Image 13" descr="icons/targe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4059936"/>
            <a:ext cx="182880" cy="182880"/>
          </a:xfrm>
          <a:prstGeom prst="rect">
            <a:avLst/>
          </a:prstGeom>
        </p:spPr>
      </p:pic>
      <p:sp>
        <p:nvSpPr>
          <p:cNvPr id="54" name="Text 38"/>
          <p:cNvSpPr/>
          <p:nvPr/>
        </p:nvSpPr>
        <p:spPr>
          <a:xfrm>
            <a:off x="7909560" y="404164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remain for complex, highly personalized requests</a:t>
            </a:r>
            <a:endParaRPr lang="en-US" sz="1050" dirty="0"/>
          </a:p>
        </p:txBody>
      </p:sp>
      <p:sp>
        <p:nvSpPr>
          <p:cNvPr id="55" name="Text 39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BankEase AI — AI-Powered Banking Customer Support Chatbot</a:t>
            </a:r>
            <a:endParaRPr lang="en-US" sz="900" dirty="0"/>
          </a:p>
        </p:txBody>
      </p:sp>
      <p:sp>
        <p:nvSpPr>
          <p:cNvPr id="56" name="Text 40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1475</Words>
  <Application>Microsoft Office PowerPoint</Application>
  <PresentationFormat>Widescreen</PresentationFormat>
  <Paragraphs>319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saiyadfizza10@outlook.com</cp:lastModifiedBy>
  <cp:revision>3</cp:revision>
  <dcterms:created xsi:type="dcterms:W3CDTF">2026-09-05T07:25:00Z</dcterms:created>
  <dcterms:modified xsi:type="dcterms:W3CDTF">2026-09-05T08:08:19Z</dcterms:modified>
</cp:coreProperties>
</file>